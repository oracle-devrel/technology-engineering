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4827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of the LabSense demo. Four tiers left to right: browser UI, agent loop (open-source Vercel AI SDK, no Vercel services), the gateway we control, and the dedicated OCI endpoint hosting the imported Qwen model. Bottom left lists what was deliberately not used, including the Responses API which OCI rejects for imported models.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E5BFDDD-2081-F5A0-E2C7-D7A3F1A8388A}"/>
              </a:ext>
            </a:extLst>
          </p:cNvPr>
          <p:cNvSpPr txBox="1"/>
          <p:nvPr userDrawn="1">
            <p:extLst>
              <p:ext uri="{1162E1C5-73C7-4A58-AE30-91384D911F3F}">
                <p184:classification xmlns:p184="http://schemas.microsoft.com/office/powerpoint/2018/4/main" val="hdr"/>
              </p:ext>
            </p:extLst>
          </p:nvPr>
        </p:nvSpPr>
        <p:spPr>
          <a:xfrm>
            <a:off x="63500" y="63500"/>
            <a:ext cx="2709863" cy="152400"/>
          </a:xfrm>
          <a:prstGeom prst="rect">
            <a:avLst/>
          </a:prstGeom>
        </p:spPr>
        <p:txBody>
          <a:bodyPr horzOverflow="overflow" lIns="0" tIns="0" rIns="0" bIns="0">
            <a:spAutoFit/>
          </a:bodyPr>
          <a:lstStyle/>
          <a:p>
            <a:pPr algn="l"/>
            <a:r>
              <a:rPr lang="en-SE" sz="1000">
                <a:solidFill>
                  <a:srgbClr val="000000">
                    <a:alpha val="50000"/>
                  </a:srgbClr>
                </a:solidFill>
                <a:latin typeface="Aptos" panose="020B0004020202020204" pitchFamily="34" charset="0"/>
              </a:rPr>
              <a:t>Confidential - Oracle Restricted \Employees Only</a:t>
            </a:r>
          </a:p>
        </p:txBody>
      </p:sp>
      <p:sp>
        <p:nvSpPr>
          <p:cNvPr id="5" name="TextBox 4">
            <a:extLst>
              <a:ext uri="{FF2B5EF4-FFF2-40B4-BE49-F238E27FC236}">
                <a16:creationId xmlns:a16="http://schemas.microsoft.com/office/drawing/2014/main" id="{7EB119F0-FEC2-A76A-0FCE-8A0824A740B9}"/>
              </a:ext>
            </a:extLst>
          </p:cNvPr>
          <p:cNvSpPr txBox="1"/>
          <p:nvPr userDrawn="1">
            <p:extLst>
              <p:ext uri="{1162E1C5-73C7-4A58-AE30-91384D911F3F}">
                <p184:classification xmlns:p184="http://schemas.microsoft.com/office/powerpoint/2018/4/main" val="ftr"/>
              </p:ext>
            </p:extLst>
          </p:nvPr>
        </p:nvSpPr>
        <p:spPr>
          <a:xfrm>
            <a:off x="63500" y="6642100"/>
            <a:ext cx="2709863" cy="152400"/>
          </a:xfrm>
          <a:prstGeom prst="rect">
            <a:avLst/>
          </a:prstGeom>
        </p:spPr>
        <p:txBody>
          <a:bodyPr horzOverflow="overflow" lIns="0" tIns="0" rIns="0" bIns="0">
            <a:spAutoFit/>
          </a:bodyPr>
          <a:lstStyle/>
          <a:p>
            <a:pPr algn="l"/>
            <a:r>
              <a:rPr lang="en-SE" sz="1000">
                <a:solidFill>
                  <a:srgbClr val="000000">
                    <a:alpha val="50000"/>
                  </a:srgbClr>
                </a:solidFill>
                <a:latin typeface="Aptos" panose="020B0004020202020204" pitchFamily="34" charset="0"/>
              </a:rPr>
              <a:t>Confidential - Oracle Restricted \Employees Only</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241"/>
        </a:solidFill>
        <a:effectLst/>
      </p:bgPr>
    </p:bg>
    <p:spTree>
      <p:nvGrpSpPr>
        <p:cNvPr id="1" name=""/>
        <p:cNvGrpSpPr/>
        <p:nvPr/>
      </p:nvGrpSpPr>
      <p:grpSpPr>
        <a:xfrm>
          <a:off x="0" y="0"/>
          <a:ext cx="0" cy="0"/>
          <a:chOff x="0" y="0"/>
          <a:chExt cx="0" cy="0"/>
        </a:xfrm>
      </p:grpSpPr>
      <p:sp>
        <p:nvSpPr>
          <p:cNvPr id="2" name="Text 0"/>
          <p:cNvSpPr txBox="1"/>
          <p:nvPr/>
        </p:nvSpPr>
        <p:spPr>
          <a:xfrm>
            <a:off x="457200" y="347472"/>
            <a:ext cx="8686800" cy="54864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LabSense: solution architecture</a:t>
            </a:r>
            <a:endParaRPr lang="en-US" sz="3000" dirty="0"/>
          </a:p>
        </p:txBody>
      </p:sp>
      <p:sp>
        <p:nvSpPr>
          <p:cNvPr id="3" name="Text 1"/>
          <p:cNvSpPr txBox="1"/>
          <p:nvPr/>
        </p:nvSpPr>
        <p:spPr>
          <a:xfrm>
            <a:off x="457200" y="896112"/>
            <a:ext cx="9601200" cy="320040"/>
          </a:xfrm>
          <a:prstGeom prst="rect">
            <a:avLst/>
          </a:prstGeom>
          <a:noFill/>
          <a:ln/>
        </p:spPr>
        <p:txBody>
          <a:bodyPr wrap="square" lIns="0" tIns="0" rIns="0" bIns="0" rtlCol="0" anchor="ctr"/>
          <a:lstStyle/>
          <a:p>
            <a:pPr marL="0" indent="0">
              <a:buNone/>
            </a:pPr>
            <a:r>
              <a:rPr lang="en-US" sz="1300" dirty="0">
                <a:solidFill>
                  <a:srgbClr val="9FC3CE"/>
                </a:solidFill>
                <a:latin typeface="Arial" pitchFamily="34" charset="0"/>
                <a:ea typeface="Arial" pitchFamily="34" charset="-122"/>
                <a:cs typeface="Arial" pitchFamily="34" charset="-120"/>
              </a:rPr>
              <a:t>Redundant lab-test avoidance for physicians, built on an imported model running on a dedicated OCI Generative AI cluster</a:t>
            </a:r>
            <a:endParaRPr lang="en-US" sz="1300" dirty="0"/>
          </a:p>
        </p:txBody>
      </p:sp>
      <p:sp>
        <p:nvSpPr>
          <p:cNvPr id="4" name="Text 2"/>
          <p:cNvSpPr txBox="1"/>
          <p:nvPr/>
        </p:nvSpPr>
        <p:spPr>
          <a:xfrm>
            <a:off x="8503920" y="411480"/>
            <a:ext cx="3227832" cy="274320"/>
          </a:xfrm>
          <a:prstGeom prst="rect">
            <a:avLst/>
          </a:prstGeom>
          <a:noFill/>
          <a:ln/>
        </p:spPr>
        <p:txBody>
          <a:bodyPr wrap="square" lIns="0" tIns="0" rIns="0" bIns="0" rtlCol="0" anchor="ctr"/>
          <a:lstStyle/>
          <a:p>
            <a:pPr marL="0" indent="0" algn="r">
              <a:buNone/>
            </a:pPr>
            <a:r>
              <a:rPr lang="en-US" sz="900" b="1" kern="0" spc="100" dirty="0">
                <a:solidFill>
                  <a:srgbClr val="C74634"/>
                </a:solidFill>
                <a:latin typeface="Arial" pitchFamily="34" charset="0"/>
                <a:ea typeface="Arial" pitchFamily="34" charset="-122"/>
                <a:cs typeface="Arial" pitchFamily="34" charset="-120"/>
              </a:rPr>
              <a:t>DEMO · ALL PATIENT DATA FICTIONAL</a:t>
            </a:r>
            <a:endParaRPr lang="en-US" sz="900" dirty="0"/>
          </a:p>
        </p:txBody>
      </p:sp>
      <p:sp>
        <p:nvSpPr>
          <p:cNvPr id="5" name="Shape 3"/>
          <p:cNvSpPr/>
          <p:nvPr/>
        </p:nvSpPr>
        <p:spPr>
          <a:xfrm>
            <a:off x="457200" y="1371600"/>
            <a:ext cx="2240280" cy="3337560"/>
          </a:xfrm>
          <a:prstGeom prst="roundRect">
            <a:avLst>
              <a:gd name="adj" fmla="val 4898"/>
            </a:avLst>
          </a:prstGeom>
          <a:solidFill>
            <a:srgbClr val="0B4256"/>
          </a:solidFill>
          <a:ln w="12700">
            <a:solidFill>
              <a:srgbClr val="1F5B70"/>
            </a:solidFill>
            <a:prstDash val="solid"/>
          </a:ln>
          <a:effectLst>
            <a:outerShdw blurRad="76200" dist="25400" dir="5400000" algn="bl" rotWithShape="0">
              <a:srgbClr val="000000">
                <a:alpha val="35000"/>
              </a:srgbClr>
            </a:outerShdw>
          </a:effectLst>
        </p:spPr>
        <p:txBody>
          <a:bodyPr/>
          <a:lstStyle/>
          <a:p>
            <a:endParaRPr lang="en-SE"/>
          </a:p>
        </p:txBody>
      </p:sp>
      <p:sp>
        <p:nvSpPr>
          <p:cNvPr id="6" name="Shape 4"/>
          <p:cNvSpPr/>
          <p:nvPr/>
        </p:nvSpPr>
        <p:spPr>
          <a:xfrm>
            <a:off x="621792" y="1536192"/>
            <a:ext cx="868680" cy="237744"/>
          </a:xfrm>
          <a:prstGeom prst="roundRect">
            <a:avLst>
              <a:gd name="adj" fmla="val 50000"/>
            </a:avLst>
          </a:prstGeom>
          <a:solidFill>
            <a:srgbClr val="072E3D"/>
          </a:solidFill>
          <a:ln w="9525">
            <a:solidFill>
              <a:srgbClr val="1F5B70"/>
            </a:solidFill>
            <a:prstDash val="solid"/>
          </a:ln>
        </p:spPr>
        <p:txBody>
          <a:bodyPr/>
          <a:lstStyle/>
          <a:p>
            <a:endParaRPr lang="en-SE"/>
          </a:p>
        </p:txBody>
      </p:sp>
      <p:sp>
        <p:nvSpPr>
          <p:cNvPr id="7" name="Text 5"/>
          <p:cNvSpPr txBox="1"/>
          <p:nvPr/>
        </p:nvSpPr>
        <p:spPr>
          <a:xfrm>
            <a:off x="621792" y="1536192"/>
            <a:ext cx="868680" cy="237744"/>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Arial" pitchFamily="34" charset="0"/>
                <a:ea typeface="Arial" pitchFamily="34" charset="-122"/>
                <a:cs typeface="Arial" pitchFamily="34" charset="-120"/>
              </a:rPr>
              <a:t>UI</a:t>
            </a:r>
            <a:endParaRPr lang="en-US" sz="850" dirty="0"/>
          </a:p>
        </p:txBody>
      </p:sp>
      <p:sp>
        <p:nvSpPr>
          <p:cNvPr id="8" name="Text 6"/>
          <p:cNvSpPr txBox="1"/>
          <p:nvPr/>
        </p:nvSpPr>
        <p:spPr>
          <a:xfrm>
            <a:off x="621792" y="1847088"/>
            <a:ext cx="1965960" cy="329184"/>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Clinician's browser</a:t>
            </a:r>
            <a:endParaRPr lang="en-US" sz="1450" dirty="0"/>
          </a:p>
        </p:txBody>
      </p:sp>
      <p:sp>
        <p:nvSpPr>
          <p:cNvPr id="9" name="Text 7"/>
          <p:cNvSpPr txBox="1"/>
          <p:nvPr/>
        </p:nvSpPr>
        <p:spPr>
          <a:xfrm>
            <a:off x="621792" y="2176272"/>
            <a:ext cx="1911096" cy="256032"/>
          </a:xfrm>
          <a:prstGeom prst="rect">
            <a:avLst/>
          </a:prstGeom>
          <a:noFill/>
          <a:ln/>
        </p:spPr>
        <p:txBody>
          <a:bodyPr wrap="square" lIns="0" tIns="0" rIns="0" bIns="0" rtlCol="0" anchor="ctr"/>
          <a:lstStyle/>
          <a:p>
            <a:pPr marL="0" indent="0">
              <a:buNone/>
            </a:pPr>
            <a:r>
              <a:rPr lang="en-US" sz="850" dirty="0">
                <a:solidFill>
                  <a:srgbClr val="6CC4D6"/>
                </a:solidFill>
                <a:latin typeface="Arial" pitchFamily="34" charset="0"/>
                <a:ea typeface="Arial" pitchFamily="34" charset="-122"/>
                <a:cs typeface="Arial" pitchFamily="34" charset="-120"/>
              </a:rPr>
              <a:t>Next.js 16 front end · React 19</a:t>
            </a:r>
            <a:endParaRPr lang="en-US" sz="850" dirty="0"/>
          </a:p>
        </p:txBody>
      </p:sp>
      <p:sp>
        <p:nvSpPr>
          <p:cNvPr id="10" name="Text 8"/>
          <p:cNvSpPr txBox="1"/>
          <p:nvPr/>
        </p:nvSpPr>
        <p:spPr>
          <a:xfrm>
            <a:off x="585216" y="2487168"/>
            <a:ext cx="1965960" cy="210312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Consult chat with streamed reasoning and tool steps</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Order board: requested vs recommended cost, validity, savings (Recharts)</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Patient record and visit history tabs</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Arabic / English, right-to-left layout</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Holds no credentials, never calls the model</a:t>
            </a:r>
            <a:endParaRPr lang="en-US" sz="1000" dirty="0"/>
          </a:p>
        </p:txBody>
      </p:sp>
      <p:sp>
        <p:nvSpPr>
          <p:cNvPr id="11" name="Shape 9"/>
          <p:cNvSpPr/>
          <p:nvPr/>
        </p:nvSpPr>
        <p:spPr>
          <a:xfrm>
            <a:off x="3465576" y="1371600"/>
            <a:ext cx="2240280" cy="3337560"/>
          </a:xfrm>
          <a:prstGeom prst="roundRect">
            <a:avLst>
              <a:gd name="adj" fmla="val 4898"/>
            </a:avLst>
          </a:prstGeom>
          <a:solidFill>
            <a:srgbClr val="0B4256"/>
          </a:solidFill>
          <a:ln w="12700">
            <a:solidFill>
              <a:srgbClr val="1F5B70"/>
            </a:solidFill>
            <a:prstDash val="solid"/>
          </a:ln>
          <a:effectLst>
            <a:outerShdw blurRad="76200" dist="25400" dir="5400000" algn="bl" rotWithShape="0">
              <a:srgbClr val="000000">
                <a:alpha val="35000"/>
              </a:srgbClr>
            </a:outerShdw>
          </a:effectLst>
        </p:spPr>
        <p:txBody>
          <a:bodyPr/>
          <a:lstStyle/>
          <a:p>
            <a:endParaRPr lang="en-SE"/>
          </a:p>
        </p:txBody>
      </p:sp>
      <p:sp>
        <p:nvSpPr>
          <p:cNvPr id="12" name="Shape 10"/>
          <p:cNvSpPr/>
          <p:nvPr/>
        </p:nvSpPr>
        <p:spPr>
          <a:xfrm>
            <a:off x="3630168" y="1536192"/>
            <a:ext cx="868680" cy="237744"/>
          </a:xfrm>
          <a:prstGeom prst="roundRect">
            <a:avLst>
              <a:gd name="adj" fmla="val 50000"/>
            </a:avLst>
          </a:prstGeom>
          <a:solidFill>
            <a:srgbClr val="072E3D"/>
          </a:solidFill>
          <a:ln w="9525">
            <a:solidFill>
              <a:srgbClr val="1F5B70"/>
            </a:solidFill>
            <a:prstDash val="solid"/>
          </a:ln>
        </p:spPr>
        <p:txBody>
          <a:bodyPr/>
          <a:lstStyle/>
          <a:p>
            <a:endParaRPr lang="en-SE"/>
          </a:p>
        </p:txBody>
      </p:sp>
      <p:sp>
        <p:nvSpPr>
          <p:cNvPr id="13" name="Text 11"/>
          <p:cNvSpPr txBox="1"/>
          <p:nvPr/>
        </p:nvSpPr>
        <p:spPr>
          <a:xfrm>
            <a:off x="3630168" y="1536192"/>
            <a:ext cx="868680" cy="237744"/>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Arial" pitchFamily="34" charset="0"/>
                <a:ea typeface="Arial" pitchFamily="34" charset="-122"/>
                <a:cs typeface="Arial" pitchFamily="34" charset="-120"/>
              </a:rPr>
              <a:t>AGENT</a:t>
            </a:r>
            <a:endParaRPr lang="en-US" sz="850" dirty="0"/>
          </a:p>
        </p:txBody>
      </p:sp>
      <p:sp>
        <p:nvSpPr>
          <p:cNvPr id="14" name="Text 12"/>
          <p:cNvSpPr txBox="1"/>
          <p:nvPr/>
        </p:nvSpPr>
        <p:spPr>
          <a:xfrm>
            <a:off x="3630168" y="1847088"/>
            <a:ext cx="1965960" cy="329184"/>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Agent loop</a:t>
            </a:r>
            <a:endParaRPr lang="en-US" sz="1450" dirty="0"/>
          </a:p>
        </p:txBody>
      </p:sp>
      <p:sp>
        <p:nvSpPr>
          <p:cNvPr id="15" name="Text 13"/>
          <p:cNvSpPr txBox="1"/>
          <p:nvPr/>
        </p:nvSpPr>
        <p:spPr>
          <a:xfrm>
            <a:off x="3630168" y="2176272"/>
            <a:ext cx="1911096" cy="256032"/>
          </a:xfrm>
          <a:prstGeom prst="rect">
            <a:avLst/>
          </a:prstGeom>
          <a:noFill/>
          <a:ln/>
        </p:spPr>
        <p:txBody>
          <a:bodyPr wrap="square" lIns="0" tIns="0" rIns="0" bIns="0" rtlCol="0" anchor="ctr"/>
          <a:lstStyle/>
          <a:p>
            <a:pPr marL="0" indent="0">
              <a:buNone/>
            </a:pPr>
            <a:r>
              <a:rPr lang="en-US" sz="850" dirty="0">
                <a:solidFill>
                  <a:srgbClr val="6CC4D6"/>
                </a:solidFill>
                <a:latin typeface="Arial" pitchFamily="34" charset="0"/>
                <a:ea typeface="Arial" pitchFamily="34" charset="-122"/>
                <a:cs typeface="Arial" pitchFamily="34" charset="-120"/>
              </a:rPr>
              <a:t>Vercel AI SDK · open source (Apache 2.0)</a:t>
            </a:r>
            <a:endParaRPr lang="en-US" sz="850" dirty="0"/>
          </a:p>
        </p:txBody>
      </p:sp>
      <p:sp>
        <p:nvSpPr>
          <p:cNvPr id="16" name="Text 14"/>
          <p:cNvSpPr txBox="1"/>
          <p:nvPr/>
        </p:nvSpPr>
        <p:spPr>
          <a:xfrm>
            <a:off x="3593592" y="2487168"/>
            <a:ext cx="1965960" cy="210312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ToolLoopAgent inside the Next.js server, no graph framework</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Model chooses a tool, the app runs it, result goes back, up to 8 steps</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Six tools: patient record, test catalog, evaluate order, place order, read report, import results</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OpenAI-compatible provider pointed at the gateway</a:t>
            </a:r>
            <a:endParaRPr lang="en-US" sz="1000" dirty="0"/>
          </a:p>
        </p:txBody>
      </p:sp>
      <p:sp>
        <p:nvSpPr>
          <p:cNvPr id="17" name="Shape 15"/>
          <p:cNvSpPr/>
          <p:nvPr/>
        </p:nvSpPr>
        <p:spPr>
          <a:xfrm>
            <a:off x="6473952" y="1371600"/>
            <a:ext cx="2240280" cy="3337560"/>
          </a:xfrm>
          <a:prstGeom prst="roundRect">
            <a:avLst>
              <a:gd name="adj" fmla="val 4898"/>
            </a:avLst>
          </a:prstGeom>
          <a:solidFill>
            <a:srgbClr val="0B4256"/>
          </a:solidFill>
          <a:ln w="12700">
            <a:solidFill>
              <a:srgbClr val="1F5B70"/>
            </a:solidFill>
            <a:prstDash val="solid"/>
          </a:ln>
          <a:effectLst>
            <a:outerShdw blurRad="76200" dist="25400" dir="5400000" algn="bl" rotWithShape="0">
              <a:srgbClr val="000000">
                <a:alpha val="35000"/>
              </a:srgbClr>
            </a:outerShdw>
          </a:effectLst>
        </p:spPr>
        <p:txBody>
          <a:bodyPr/>
          <a:lstStyle/>
          <a:p>
            <a:endParaRPr lang="en-SE"/>
          </a:p>
        </p:txBody>
      </p:sp>
      <p:sp>
        <p:nvSpPr>
          <p:cNvPr id="18" name="Shape 16"/>
          <p:cNvSpPr/>
          <p:nvPr/>
        </p:nvSpPr>
        <p:spPr>
          <a:xfrm>
            <a:off x="6638544" y="1536192"/>
            <a:ext cx="868680" cy="237744"/>
          </a:xfrm>
          <a:prstGeom prst="roundRect">
            <a:avLst>
              <a:gd name="adj" fmla="val 50000"/>
            </a:avLst>
          </a:prstGeom>
          <a:solidFill>
            <a:srgbClr val="072E3D"/>
          </a:solidFill>
          <a:ln w="9525">
            <a:solidFill>
              <a:srgbClr val="1F5B70"/>
            </a:solidFill>
            <a:prstDash val="solid"/>
          </a:ln>
        </p:spPr>
        <p:txBody>
          <a:bodyPr/>
          <a:lstStyle/>
          <a:p>
            <a:endParaRPr lang="en-SE"/>
          </a:p>
        </p:txBody>
      </p:sp>
      <p:sp>
        <p:nvSpPr>
          <p:cNvPr id="19" name="Text 17"/>
          <p:cNvSpPr txBox="1"/>
          <p:nvPr/>
        </p:nvSpPr>
        <p:spPr>
          <a:xfrm>
            <a:off x="6638544" y="1536192"/>
            <a:ext cx="868680" cy="237744"/>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Arial" pitchFamily="34" charset="0"/>
                <a:ea typeface="Arial" pitchFamily="34" charset="-122"/>
                <a:cs typeface="Arial" pitchFamily="34" charset="-120"/>
              </a:rPr>
              <a:t>GATEWAY</a:t>
            </a:r>
            <a:endParaRPr lang="en-US" sz="850" dirty="0"/>
          </a:p>
        </p:txBody>
      </p:sp>
      <p:sp>
        <p:nvSpPr>
          <p:cNvPr id="20" name="Text 18"/>
          <p:cNvSpPr txBox="1"/>
          <p:nvPr/>
        </p:nvSpPr>
        <p:spPr>
          <a:xfrm>
            <a:off x="6638544" y="1847088"/>
            <a:ext cx="1965960" cy="329184"/>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LabSense gateway</a:t>
            </a:r>
            <a:endParaRPr lang="en-US" sz="1450" dirty="0"/>
          </a:p>
        </p:txBody>
      </p:sp>
      <p:sp>
        <p:nvSpPr>
          <p:cNvPr id="21" name="Text 19"/>
          <p:cNvSpPr txBox="1"/>
          <p:nvPr/>
        </p:nvSpPr>
        <p:spPr>
          <a:xfrm>
            <a:off x="6638544" y="2176272"/>
            <a:ext cx="1911096" cy="256032"/>
          </a:xfrm>
          <a:prstGeom prst="rect">
            <a:avLst/>
          </a:prstGeom>
          <a:noFill/>
          <a:ln/>
        </p:spPr>
        <p:txBody>
          <a:bodyPr wrap="square" lIns="0" tIns="0" rIns="0" bIns="0" rtlCol="0" anchor="ctr"/>
          <a:lstStyle/>
          <a:p>
            <a:pPr marL="0" indent="0">
              <a:buNone/>
            </a:pPr>
            <a:r>
              <a:rPr lang="en-US" sz="850" dirty="0">
                <a:solidFill>
                  <a:srgbClr val="6CC4D6"/>
                </a:solidFill>
                <a:latin typeface="Arial" pitchFamily="34" charset="0"/>
                <a:ea typeface="Arial" pitchFamily="34" charset="-122"/>
                <a:cs typeface="Arial" pitchFamily="34" charset="-120"/>
              </a:rPr>
              <a:t>FastAPI · Python · loopback only</a:t>
            </a:r>
            <a:endParaRPr lang="en-US" sz="850" dirty="0"/>
          </a:p>
        </p:txBody>
      </p:sp>
      <p:sp>
        <p:nvSpPr>
          <p:cNvPr id="22" name="Text 20"/>
          <p:cNvSpPr txBox="1"/>
          <p:nvPr/>
        </p:nvSpPr>
        <p:spPr>
          <a:xfrm>
            <a:off x="6601968" y="2487168"/>
            <a:ext cx="1965960" cy="210312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Signs every request with the OCI API key from ~/.oci/config</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Patient records in SQLite: results, orders, visit summaries. This is the memory.</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Rules engine: validity windows and prices from catalog.json, deterministic</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Report parsing with PyMuPDF; scanned pages and images go to model vision</a:t>
            </a:r>
            <a:endParaRPr lang="en-US" sz="1000" dirty="0"/>
          </a:p>
        </p:txBody>
      </p:sp>
      <p:sp>
        <p:nvSpPr>
          <p:cNvPr id="23" name="Shape 21"/>
          <p:cNvSpPr/>
          <p:nvPr/>
        </p:nvSpPr>
        <p:spPr>
          <a:xfrm>
            <a:off x="9482328" y="1371600"/>
            <a:ext cx="2240280" cy="3337560"/>
          </a:xfrm>
          <a:prstGeom prst="roundRect">
            <a:avLst>
              <a:gd name="adj" fmla="val 4898"/>
            </a:avLst>
          </a:prstGeom>
          <a:solidFill>
            <a:srgbClr val="0B4256"/>
          </a:solidFill>
          <a:ln w="12700">
            <a:solidFill>
              <a:srgbClr val="1F5B70"/>
            </a:solidFill>
            <a:prstDash val="solid"/>
          </a:ln>
          <a:effectLst>
            <a:outerShdw blurRad="76200" dist="25400" dir="5400000" algn="bl" rotWithShape="0">
              <a:srgbClr val="000000">
                <a:alpha val="35000"/>
              </a:srgbClr>
            </a:outerShdw>
          </a:effectLst>
        </p:spPr>
        <p:txBody>
          <a:bodyPr/>
          <a:lstStyle/>
          <a:p>
            <a:endParaRPr lang="en-SE"/>
          </a:p>
        </p:txBody>
      </p:sp>
      <p:sp>
        <p:nvSpPr>
          <p:cNvPr id="24" name="Shape 22"/>
          <p:cNvSpPr/>
          <p:nvPr/>
        </p:nvSpPr>
        <p:spPr>
          <a:xfrm>
            <a:off x="9646920" y="1536192"/>
            <a:ext cx="868680" cy="237744"/>
          </a:xfrm>
          <a:prstGeom prst="roundRect">
            <a:avLst>
              <a:gd name="adj" fmla="val 50000"/>
            </a:avLst>
          </a:prstGeom>
          <a:solidFill>
            <a:srgbClr val="C74634"/>
          </a:solidFill>
          <a:ln w="9525">
            <a:solidFill>
              <a:srgbClr val="C74634"/>
            </a:solidFill>
            <a:prstDash val="solid"/>
          </a:ln>
        </p:spPr>
        <p:txBody>
          <a:bodyPr/>
          <a:lstStyle/>
          <a:p>
            <a:endParaRPr lang="en-SE"/>
          </a:p>
        </p:txBody>
      </p:sp>
      <p:sp>
        <p:nvSpPr>
          <p:cNvPr id="25" name="Text 23"/>
          <p:cNvSpPr txBox="1"/>
          <p:nvPr/>
        </p:nvSpPr>
        <p:spPr>
          <a:xfrm>
            <a:off x="9646920" y="1536192"/>
            <a:ext cx="868680" cy="237744"/>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Arial" pitchFamily="34" charset="0"/>
                <a:ea typeface="Arial" pitchFamily="34" charset="-122"/>
                <a:cs typeface="Arial" pitchFamily="34" charset="-120"/>
              </a:rPr>
              <a:t>OCI</a:t>
            </a:r>
            <a:endParaRPr lang="en-US" sz="850" dirty="0"/>
          </a:p>
        </p:txBody>
      </p:sp>
      <p:sp>
        <p:nvSpPr>
          <p:cNvPr id="26" name="Text 24"/>
          <p:cNvSpPr txBox="1"/>
          <p:nvPr/>
        </p:nvSpPr>
        <p:spPr>
          <a:xfrm>
            <a:off x="9646920" y="1847088"/>
            <a:ext cx="1965960" cy="329184"/>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OCI Generative AI</a:t>
            </a:r>
            <a:endParaRPr lang="en-US" sz="1450" dirty="0"/>
          </a:p>
        </p:txBody>
      </p:sp>
      <p:sp>
        <p:nvSpPr>
          <p:cNvPr id="27" name="Text 25"/>
          <p:cNvSpPr txBox="1"/>
          <p:nvPr/>
        </p:nvSpPr>
        <p:spPr>
          <a:xfrm>
            <a:off x="9646920" y="2176272"/>
            <a:ext cx="1911096" cy="256032"/>
          </a:xfrm>
          <a:prstGeom prst="rect">
            <a:avLst/>
          </a:prstGeom>
          <a:noFill/>
          <a:ln/>
        </p:spPr>
        <p:txBody>
          <a:bodyPr wrap="square" lIns="0" tIns="0" rIns="0" bIns="0" rtlCol="0" anchor="ctr"/>
          <a:lstStyle/>
          <a:p>
            <a:pPr marL="0" indent="0">
              <a:buNone/>
            </a:pPr>
            <a:r>
              <a:rPr lang="en-US" sz="850" dirty="0">
                <a:solidFill>
                  <a:srgbClr val="6CC4D6"/>
                </a:solidFill>
                <a:latin typeface="Arial" pitchFamily="34" charset="0"/>
                <a:ea typeface="Arial" pitchFamily="34" charset="-122"/>
                <a:cs typeface="Arial" pitchFamily="34" charset="-120"/>
              </a:rPr>
              <a:t>Dedicated AI cluster · eu-frankfurt-1</a:t>
            </a:r>
            <a:endParaRPr lang="en-US" sz="850" dirty="0"/>
          </a:p>
        </p:txBody>
      </p:sp>
      <p:sp>
        <p:nvSpPr>
          <p:cNvPr id="28" name="Text 26"/>
          <p:cNvSpPr txBox="1"/>
          <p:nvPr/>
        </p:nvSpPr>
        <p:spPr>
          <a:xfrm>
            <a:off x="9610344" y="2487168"/>
            <a:ext cx="1965960" cy="210312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Imported model: Qwen 3.8 27B on an H100 hosting unit</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OpenAI-compatible Chat Completions route, OCI request signing</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Native function calling, streamed reasoning (effort none to xhigh), image understanding</a:t>
            </a:r>
            <a:endParaRPr lang="en-US" sz="1000" dirty="0"/>
          </a:p>
          <a:p>
            <a:pPr marL="127000" indent="-1270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Native chat API used for document vision</a:t>
            </a:r>
            <a:endParaRPr lang="en-US" sz="1000" dirty="0"/>
          </a:p>
        </p:txBody>
      </p:sp>
      <p:sp>
        <p:nvSpPr>
          <p:cNvPr id="29" name="Shape 27"/>
          <p:cNvSpPr/>
          <p:nvPr/>
        </p:nvSpPr>
        <p:spPr>
          <a:xfrm>
            <a:off x="2752344" y="2788920"/>
            <a:ext cx="658368" cy="0"/>
          </a:xfrm>
          <a:prstGeom prst="line">
            <a:avLst/>
          </a:prstGeom>
          <a:noFill/>
          <a:ln w="19050">
            <a:solidFill>
              <a:srgbClr val="6CC4D6"/>
            </a:solidFill>
            <a:prstDash val="solid"/>
            <a:headEnd type="triangle"/>
            <a:tailEnd type="triangle"/>
          </a:ln>
        </p:spPr>
        <p:txBody>
          <a:bodyPr/>
          <a:lstStyle/>
          <a:p>
            <a:endParaRPr lang="en-SE"/>
          </a:p>
        </p:txBody>
      </p:sp>
      <p:sp>
        <p:nvSpPr>
          <p:cNvPr id="30" name="Text 28"/>
          <p:cNvSpPr txBox="1"/>
          <p:nvPr/>
        </p:nvSpPr>
        <p:spPr>
          <a:xfrm>
            <a:off x="2660904" y="2880360"/>
            <a:ext cx="841248" cy="411480"/>
          </a:xfrm>
          <a:prstGeom prst="rect">
            <a:avLst/>
          </a:prstGeom>
          <a:noFill/>
          <a:ln/>
        </p:spPr>
        <p:txBody>
          <a:bodyPr wrap="square" lIns="0" tIns="0" rIns="0" bIns="0" rtlCol="0" anchor="t"/>
          <a:lstStyle/>
          <a:p>
            <a:pPr marL="0" indent="0" algn="ctr">
              <a:buNone/>
            </a:pPr>
            <a:r>
              <a:rPr lang="en-US" sz="800" dirty="0">
                <a:solidFill>
                  <a:srgbClr val="9FC3CE"/>
                </a:solidFill>
                <a:latin typeface="Arial" pitchFamily="34" charset="0"/>
                <a:ea typeface="Arial" pitchFamily="34" charset="-122"/>
                <a:cs typeface="Arial" pitchFamily="34" charset="-120"/>
              </a:rPr>
              <a:t>SSE stream</a:t>
            </a:r>
            <a:endParaRPr lang="en-US" sz="800" dirty="0"/>
          </a:p>
          <a:p>
            <a:pPr marL="0" indent="0" algn="ctr">
              <a:buNone/>
            </a:pPr>
            <a:r>
              <a:rPr lang="en-US" sz="800" dirty="0">
                <a:solidFill>
                  <a:srgbClr val="9FC3CE"/>
                </a:solidFill>
                <a:latin typeface="Arial" pitchFamily="34" charset="0"/>
                <a:ea typeface="Arial" pitchFamily="34" charset="-122"/>
                <a:cs typeface="Arial" pitchFamily="34" charset="-120"/>
              </a:rPr>
              <a:t>/api/chat</a:t>
            </a:r>
            <a:endParaRPr lang="en-US" sz="800" dirty="0"/>
          </a:p>
        </p:txBody>
      </p:sp>
      <p:sp>
        <p:nvSpPr>
          <p:cNvPr id="31" name="Shape 29"/>
          <p:cNvSpPr/>
          <p:nvPr/>
        </p:nvSpPr>
        <p:spPr>
          <a:xfrm>
            <a:off x="5760720" y="2788920"/>
            <a:ext cx="658368" cy="0"/>
          </a:xfrm>
          <a:prstGeom prst="line">
            <a:avLst/>
          </a:prstGeom>
          <a:noFill/>
          <a:ln w="19050">
            <a:solidFill>
              <a:srgbClr val="6CC4D6"/>
            </a:solidFill>
            <a:prstDash val="solid"/>
            <a:headEnd type="triangle"/>
            <a:tailEnd type="triangle"/>
          </a:ln>
        </p:spPr>
        <p:txBody>
          <a:bodyPr/>
          <a:lstStyle/>
          <a:p>
            <a:endParaRPr lang="en-SE"/>
          </a:p>
        </p:txBody>
      </p:sp>
      <p:sp>
        <p:nvSpPr>
          <p:cNvPr id="32" name="Text 30"/>
          <p:cNvSpPr txBox="1"/>
          <p:nvPr/>
        </p:nvSpPr>
        <p:spPr>
          <a:xfrm>
            <a:off x="5669280" y="2880360"/>
            <a:ext cx="841248" cy="411480"/>
          </a:xfrm>
          <a:prstGeom prst="rect">
            <a:avLst/>
          </a:prstGeom>
          <a:noFill/>
          <a:ln/>
        </p:spPr>
        <p:txBody>
          <a:bodyPr wrap="square" lIns="0" tIns="0" rIns="0" bIns="0" rtlCol="0" anchor="t"/>
          <a:lstStyle/>
          <a:p>
            <a:pPr marL="0" indent="0" algn="ctr">
              <a:buNone/>
            </a:pPr>
            <a:r>
              <a:rPr lang="en-US" sz="800" dirty="0">
                <a:solidFill>
                  <a:srgbClr val="9FC3CE"/>
                </a:solidFill>
                <a:latin typeface="Arial" pitchFamily="34" charset="0"/>
                <a:ea typeface="Arial" pitchFamily="34" charset="-122"/>
                <a:cs typeface="Arial" pitchFamily="34" charset="-120"/>
              </a:rPr>
              <a:t>Tool calls</a:t>
            </a:r>
            <a:endParaRPr lang="en-US" sz="800" dirty="0"/>
          </a:p>
          <a:p>
            <a:pPr marL="0" indent="0" algn="ctr">
              <a:buNone/>
            </a:pPr>
            <a:r>
              <a:rPr lang="en-US" sz="800" dirty="0">
                <a:solidFill>
                  <a:srgbClr val="9FC3CE"/>
                </a:solidFill>
                <a:latin typeface="Arial" pitchFamily="34" charset="0"/>
                <a:ea typeface="Arial" pitchFamily="34" charset="-122"/>
                <a:cs typeface="Arial" pitchFamily="34" charset="-120"/>
              </a:rPr>
              <a:t>HTTP, loopback</a:t>
            </a:r>
            <a:endParaRPr lang="en-US" sz="800" dirty="0"/>
          </a:p>
        </p:txBody>
      </p:sp>
      <p:sp>
        <p:nvSpPr>
          <p:cNvPr id="33" name="Shape 31"/>
          <p:cNvSpPr/>
          <p:nvPr/>
        </p:nvSpPr>
        <p:spPr>
          <a:xfrm>
            <a:off x="8769096" y="2788920"/>
            <a:ext cx="658368" cy="0"/>
          </a:xfrm>
          <a:prstGeom prst="line">
            <a:avLst/>
          </a:prstGeom>
          <a:noFill/>
          <a:ln w="19050">
            <a:solidFill>
              <a:srgbClr val="6CC4D6"/>
            </a:solidFill>
            <a:prstDash val="solid"/>
            <a:headEnd type="triangle"/>
            <a:tailEnd type="triangle"/>
          </a:ln>
        </p:spPr>
        <p:txBody>
          <a:bodyPr/>
          <a:lstStyle/>
          <a:p>
            <a:endParaRPr lang="en-SE"/>
          </a:p>
        </p:txBody>
      </p:sp>
      <p:sp>
        <p:nvSpPr>
          <p:cNvPr id="34" name="Text 32"/>
          <p:cNvSpPr txBox="1"/>
          <p:nvPr/>
        </p:nvSpPr>
        <p:spPr>
          <a:xfrm>
            <a:off x="8677656" y="2880360"/>
            <a:ext cx="841248" cy="411480"/>
          </a:xfrm>
          <a:prstGeom prst="rect">
            <a:avLst/>
          </a:prstGeom>
          <a:noFill/>
          <a:ln/>
        </p:spPr>
        <p:txBody>
          <a:bodyPr wrap="square" lIns="0" tIns="0" rIns="0" bIns="0" rtlCol="0" anchor="t"/>
          <a:lstStyle/>
          <a:p>
            <a:pPr marL="0" indent="0" algn="ctr">
              <a:buNone/>
            </a:pPr>
            <a:r>
              <a:rPr lang="en-US" sz="800" dirty="0">
                <a:solidFill>
                  <a:srgbClr val="9FC3CE"/>
                </a:solidFill>
                <a:latin typeface="Arial" pitchFamily="34" charset="0"/>
                <a:ea typeface="Arial" pitchFamily="34" charset="-122"/>
                <a:cs typeface="Arial" pitchFamily="34" charset="-120"/>
              </a:rPr>
              <a:t>HTTPS</a:t>
            </a:r>
            <a:endParaRPr lang="en-US" sz="800" dirty="0"/>
          </a:p>
          <a:p>
            <a:pPr marL="0" indent="0" algn="ctr">
              <a:buNone/>
            </a:pPr>
            <a:r>
              <a:rPr lang="en-US" sz="800" dirty="0">
                <a:solidFill>
                  <a:srgbClr val="9FC3CE"/>
                </a:solidFill>
                <a:latin typeface="Arial" pitchFamily="34" charset="0"/>
                <a:ea typeface="Arial" pitchFamily="34" charset="-122"/>
                <a:cs typeface="Arial" pitchFamily="34" charset="-120"/>
              </a:rPr>
              <a:t>OCI-signed</a:t>
            </a:r>
            <a:endParaRPr lang="en-US" sz="800" dirty="0"/>
          </a:p>
        </p:txBody>
      </p:sp>
      <p:sp>
        <p:nvSpPr>
          <p:cNvPr id="35" name="Shape 33"/>
          <p:cNvSpPr/>
          <p:nvPr/>
        </p:nvSpPr>
        <p:spPr>
          <a:xfrm>
            <a:off x="457200" y="4937760"/>
            <a:ext cx="5577840" cy="1051560"/>
          </a:xfrm>
          <a:prstGeom prst="roundRect">
            <a:avLst>
              <a:gd name="adj" fmla="val 8696"/>
            </a:avLst>
          </a:prstGeom>
          <a:solidFill>
            <a:srgbClr val="072E3D"/>
          </a:solidFill>
          <a:ln w="9525">
            <a:solidFill>
              <a:srgbClr val="1F5B70"/>
            </a:solidFill>
            <a:prstDash val="solid"/>
          </a:ln>
        </p:spPr>
        <p:txBody>
          <a:bodyPr/>
          <a:lstStyle/>
          <a:p>
            <a:endParaRPr lang="en-SE"/>
          </a:p>
        </p:txBody>
      </p:sp>
      <p:sp>
        <p:nvSpPr>
          <p:cNvPr id="36" name="Text 34"/>
          <p:cNvSpPr txBox="1"/>
          <p:nvPr/>
        </p:nvSpPr>
        <p:spPr>
          <a:xfrm>
            <a:off x="640080" y="5047488"/>
            <a:ext cx="5212080" cy="256032"/>
          </a:xfrm>
          <a:prstGeom prst="rect">
            <a:avLst/>
          </a:prstGeom>
          <a:noFill/>
          <a:ln/>
        </p:spPr>
        <p:txBody>
          <a:bodyPr wrap="square" lIns="0" tIns="0" rIns="0" bIns="0" rtlCol="0" anchor="ctr"/>
          <a:lstStyle/>
          <a:p>
            <a:pPr marL="0" indent="0">
              <a:buNone/>
            </a:pPr>
            <a:r>
              <a:rPr lang="en-US" sz="1100" b="1" dirty="0">
                <a:solidFill>
                  <a:srgbClr val="C74634"/>
                </a:solidFill>
                <a:latin typeface="Arial" pitchFamily="34" charset="0"/>
                <a:ea typeface="Arial" pitchFamily="34" charset="-122"/>
                <a:cs typeface="Arial" pitchFamily="34" charset="-120"/>
              </a:rPr>
              <a:t>Deliberately not used</a:t>
            </a:r>
            <a:endParaRPr lang="en-US" sz="1100" dirty="0"/>
          </a:p>
        </p:txBody>
      </p:sp>
      <p:sp>
        <p:nvSpPr>
          <p:cNvPr id="37" name="Text 35"/>
          <p:cNvSpPr txBox="1"/>
          <p:nvPr/>
        </p:nvSpPr>
        <p:spPr>
          <a:xfrm>
            <a:off x="640080" y="5321808"/>
            <a:ext cx="5212080" cy="640080"/>
          </a:xfrm>
          <a:prstGeom prst="rect">
            <a:avLst/>
          </a:prstGeom>
          <a:noFill/>
          <a:ln/>
        </p:spPr>
        <p:txBody>
          <a:bodyPr wrap="square" lIns="0" tIns="0" rIns="0" bIns="0" rtlCol="0" anchor="t"/>
          <a:lstStyle/>
          <a:p>
            <a:pPr marL="0" indent="0">
              <a:buNone/>
            </a:pPr>
            <a:r>
              <a:rPr lang="en-US" sz="950" b="1" dirty="0">
                <a:solidFill>
                  <a:srgbClr val="FFFFFF"/>
                </a:solidFill>
                <a:latin typeface="Arial" pitchFamily="34" charset="0"/>
                <a:ea typeface="Arial" pitchFamily="34" charset="-122"/>
                <a:cs typeface="Arial" pitchFamily="34" charset="-120"/>
              </a:rPr>
              <a:t>OCI Responses API </a:t>
            </a:r>
            <a:r>
              <a:rPr lang="en-US" sz="950" dirty="0">
                <a:solidFill>
                  <a:srgbClr val="FFFFFF"/>
                </a:solidFill>
                <a:latin typeface="Arial" pitchFamily="34" charset="0"/>
                <a:ea typeface="Arial" pitchFamily="34" charset="-122"/>
                <a:cs typeface="Arial" pitchFamily="34" charset="-120"/>
              </a:rPr>
              <a:t>(returns 400 for imported models)  ·  OCI Generative AI Agents  ·  MCP  ·  hosted apps  ·  LangGraph / LangChain  ·  vector search  ·  any Vercel hosting or service</a:t>
            </a:r>
            <a:endParaRPr lang="en-US" sz="950" dirty="0"/>
          </a:p>
        </p:txBody>
      </p:sp>
      <p:sp>
        <p:nvSpPr>
          <p:cNvPr id="38" name="Shape 36"/>
          <p:cNvSpPr/>
          <p:nvPr/>
        </p:nvSpPr>
        <p:spPr>
          <a:xfrm>
            <a:off x="6345936" y="4937760"/>
            <a:ext cx="5385816" cy="1051560"/>
          </a:xfrm>
          <a:prstGeom prst="roundRect">
            <a:avLst>
              <a:gd name="adj" fmla="val 8696"/>
            </a:avLst>
          </a:prstGeom>
          <a:solidFill>
            <a:srgbClr val="072E3D"/>
          </a:solidFill>
          <a:ln w="9525">
            <a:solidFill>
              <a:srgbClr val="1F5B70"/>
            </a:solidFill>
            <a:prstDash val="solid"/>
          </a:ln>
        </p:spPr>
        <p:txBody>
          <a:bodyPr/>
          <a:lstStyle/>
          <a:p>
            <a:endParaRPr lang="en-SE"/>
          </a:p>
        </p:txBody>
      </p:sp>
      <p:sp>
        <p:nvSpPr>
          <p:cNvPr id="39" name="Text 37"/>
          <p:cNvSpPr txBox="1"/>
          <p:nvPr/>
        </p:nvSpPr>
        <p:spPr>
          <a:xfrm>
            <a:off x="6528816" y="5047488"/>
            <a:ext cx="5029200" cy="256032"/>
          </a:xfrm>
          <a:prstGeom prst="rect">
            <a:avLst/>
          </a:prstGeom>
          <a:noFill/>
          <a:ln/>
        </p:spPr>
        <p:txBody>
          <a:bodyPr wrap="square" lIns="0" tIns="0" rIns="0" bIns="0" rtlCol="0" anchor="ctr"/>
          <a:lstStyle/>
          <a:p>
            <a:pPr marL="0" indent="0">
              <a:buNone/>
            </a:pPr>
            <a:r>
              <a:rPr lang="en-US" sz="1100" b="1" dirty="0">
                <a:solidFill>
                  <a:srgbClr val="6CC4D6"/>
                </a:solidFill>
                <a:latin typeface="Arial" pitchFamily="34" charset="0"/>
                <a:ea typeface="Arial" pitchFamily="34" charset="-122"/>
                <a:cs typeface="Arial" pitchFamily="34" charset="-120"/>
              </a:rPr>
              <a:t>Design principles</a:t>
            </a:r>
            <a:endParaRPr lang="en-US" sz="1100" dirty="0"/>
          </a:p>
        </p:txBody>
      </p:sp>
      <p:sp>
        <p:nvSpPr>
          <p:cNvPr id="40" name="Text 38"/>
          <p:cNvSpPr txBox="1"/>
          <p:nvPr/>
        </p:nvSpPr>
        <p:spPr>
          <a:xfrm>
            <a:off x="6492240" y="5321808"/>
            <a:ext cx="5120640" cy="658368"/>
          </a:xfrm>
          <a:prstGeom prst="rect">
            <a:avLst/>
          </a:prstGeom>
          <a:noFill/>
          <a:ln/>
        </p:spPr>
        <p:txBody>
          <a:bodyPr wrap="square" lIns="0" tIns="0" rIns="0" bIns="0" rtlCol="0" anchor="t"/>
          <a:lstStyle/>
          <a:p>
            <a:pPr marL="127000" indent="-127000">
              <a:spcAft>
                <a:spcPts val="200"/>
              </a:spcAft>
              <a:buSzPct val="100000"/>
              <a:buChar char="•"/>
            </a:pPr>
            <a:r>
              <a:rPr lang="en-US" sz="950" dirty="0">
                <a:solidFill>
                  <a:srgbClr val="FFFFFF"/>
                </a:solidFill>
                <a:latin typeface="Arial" pitchFamily="34" charset="0"/>
                <a:ea typeface="Arial" pitchFamily="34" charset="-122"/>
                <a:cs typeface="Arial" pitchFamily="34" charset="-120"/>
              </a:rPr>
              <a:t>The AI is never the system of record: it reads and writes through an interface the hospital owns</a:t>
            </a:r>
            <a:endParaRPr lang="en-US" sz="950" dirty="0"/>
          </a:p>
          <a:p>
            <a:pPr marL="127000" indent="-127000">
              <a:spcAft>
                <a:spcPts val="200"/>
              </a:spcAft>
              <a:buSzPct val="100000"/>
              <a:buChar char="•"/>
            </a:pPr>
            <a:r>
              <a:rPr lang="en-US" sz="950" dirty="0">
                <a:solidFill>
                  <a:srgbClr val="FFFFFF"/>
                </a:solidFill>
                <a:latin typeface="Arial" pitchFamily="34" charset="0"/>
                <a:ea typeface="Arial" pitchFamily="34" charset="-122"/>
                <a:cs typeface="Arial" pitchFamily="34" charset="-120"/>
              </a:rPr>
              <a:t>Rules decide validity and cost; the model explains and handles clinical exceptions</a:t>
            </a:r>
            <a:endParaRPr lang="en-US" sz="950" dirty="0"/>
          </a:p>
          <a:p>
            <a:pPr marL="127000" indent="-127000">
              <a:buSzPct val="100000"/>
              <a:buChar char="•"/>
            </a:pPr>
            <a:r>
              <a:rPr lang="en-US" sz="950" dirty="0">
                <a:solidFill>
                  <a:srgbClr val="FFFFFF"/>
                </a:solidFill>
                <a:latin typeface="Arial" pitchFamily="34" charset="0"/>
                <a:ea typeface="Arial" pitchFamily="34" charset="-122"/>
                <a:cs typeface="Arial" pitchFamily="34" charset="-120"/>
              </a:rPr>
              <a:t>Credentials stay server-side; both services bind to localhost; validity windows are illustrative</a:t>
            </a:r>
            <a:endParaRPr lang="en-US" sz="950" dirty="0"/>
          </a:p>
        </p:txBody>
      </p:sp>
      <p:sp>
        <p:nvSpPr>
          <p:cNvPr id="41" name="Text 39"/>
          <p:cNvSpPr txBox="1"/>
          <p:nvPr/>
        </p:nvSpPr>
        <p:spPr>
          <a:xfrm>
            <a:off x="457200" y="6263640"/>
            <a:ext cx="1371600" cy="274320"/>
          </a:xfrm>
          <a:prstGeom prst="rect">
            <a:avLst/>
          </a:prstGeom>
          <a:noFill/>
          <a:ln/>
        </p:spPr>
        <p:txBody>
          <a:bodyPr wrap="square" lIns="0" tIns="0" rIns="0" bIns="0" rtlCol="0" anchor="ctr"/>
          <a:lstStyle/>
          <a:p>
            <a:pPr marL="0" indent="0">
              <a:buNone/>
            </a:pPr>
            <a:r>
              <a:rPr lang="en-US" sz="1300" b="1" kern="0" spc="200" dirty="0">
                <a:solidFill>
                  <a:srgbClr val="C74634"/>
                </a:solidFill>
                <a:latin typeface="Arial" pitchFamily="34" charset="0"/>
                <a:ea typeface="Arial" pitchFamily="34" charset="-122"/>
                <a:cs typeface="Arial" pitchFamily="34" charset="-120"/>
              </a:rPr>
              <a:t>ORACLE</a:t>
            </a:r>
            <a:endParaRPr lang="en-US" sz="1300" dirty="0"/>
          </a:p>
        </p:txBody>
      </p:sp>
      <p:sp>
        <p:nvSpPr>
          <p:cNvPr id="42" name="Text 40"/>
          <p:cNvSpPr txBox="1"/>
          <p:nvPr/>
        </p:nvSpPr>
        <p:spPr>
          <a:xfrm>
            <a:off x="6400800" y="6281928"/>
            <a:ext cx="5330952" cy="274320"/>
          </a:xfrm>
          <a:prstGeom prst="rect">
            <a:avLst/>
          </a:prstGeom>
          <a:noFill/>
          <a:ln/>
        </p:spPr>
        <p:txBody>
          <a:bodyPr wrap="square" lIns="0" tIns="0" rIns="0" bIns="0" rtlCol="0" anchor="ctr"/>
          <a:lstStyle/>
          <a:p>
            <a:pPr marL="0" indent="0" algn="r">
              <a:buNone/>
            </a:pPr>
            <a:r>
              <a:rPr lang="en-US" sz="900">
                <a:solidFill>
                  <a:srgbClr val="9FC3CE"/>
                </a:solidFill>
                <a:latin typeface="Arial" pitchFamily="34" charset="0"/>
                <a:ea typeface="Arial" pitchFamily="34" charset="-122"/>
                <a:cs typeface="Arial" pitchFamily="34" charset="-120"/>
              </a:rPr>
              <a:t>·  </a:t>
            </a:r>
            <a:r>
              <a:rPr lang="en-US" sz="900" dirty="0">
                <a:solidFill>
                  <a:srgbClr val="9FC3CE"/>
                </a:solidFill>
                <a:latin typeface="Arial" pitchFamily="34" charset="0"/>
                <a:ea typeface="Arial" pitchFamily="34" charset="-122"/>
                <a:cs typeface="Arial" pitchFamily="34" charset="-120"/>
              </a:rPr>
              <a:t>LabSense demo  ·  October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otalTime>0</TotalTime>
  <Words>433</Words>
  <Application>Microsoft Macintosh PowerPoint</Application>
  <PresentationFormat>Widescreen</PresentationFormat>
  <Paragraphs>48</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Aptos</vt: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LabSense solution architecture</dc:title>
  <dc:subject>PptxGenJS Presentation</dc:subject>
  <dc:creator>Oracle</dc:creator>
  <cp:lastModifiedBy>Brona Nilsson</cp:lastModifiedBy>
  <cp:revision>2</cp:revision>
  <dcterms:created xsi:type="dcterms:W3CDTF">2026-10-14T08:56:13Z</dcterms:created>
  <dcterms:modified xsi:type="dcterms:W3CDTF">2026-10-14T15:23:11Z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Theme:5</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Office Theme:4</vt:lpwstr>
  </property>
  <property fmtid="{D5CDD505-2E9C-101B-9397-08002B2CF9AE}" pid="5" name="ClassificationContentMarkingHeaderText">
    <vt:lpwstr>Confidential - Oracle Restricted \Employees Only</vt:lpwstr>
  </property>
</Properties>
</file>